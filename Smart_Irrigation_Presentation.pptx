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Accuracy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</c:v>
                </c:pt>
              </c:strCache>
            </c:strRef>
          </c:tx>
          <c:spPr>
            <a:ln w="25400" cap="flat">
              <a:solidFill>
                <a:srgbClr val="1A7A3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4"/>
              </a:solidFill>
              <a:ln w="9525" cap="flat">
                <a:solidFill>
                  <a:srgbClr val="1A7A3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0.35</c:v>
                </c:pt>
                <c:pt idx="1">
                  <c:v>0.57999999999999996</c:v>
                </c:pt>
                <c:pt idx="2">
                  <c:v>0.72</c:v>
                </c:pt>
                <c:pt idx="3">
                  <c:v>0.8</c:v>
                </c:pt>
                <c:pt idx="4">
                  <c:v>0.85</c:v>
                </c:pt>
                <c:pt idx="5">
                  <c:v>0.88</c:v>
                </c:pt>
                <c:pt idx="6">
                  <c:v>0.9</c:v>
                </c:pt>
                <c:pt idx="7">
                  <c:v>0.92</c:v>
                </c:pt>
                <c:pt idx="8">
                  <c:v>0.93</c:v>
                </c:pt>
                <c:pt idx="9">
                  <c:v>0.94</c:v>
                </c:pt>
                <c:pt idx="10">
                  <c:v>0.95820000000000005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DE-41E1-9A79-28B9BBFD28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</c:v>
                </c:pt>
              </c:strCache>
            </c:strRef>
          </c:tx>
          <c:spPr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0.3</c:v>
                </c:pt>
                <c:pt idx="1">
                  <c:v>0.55000000000000004</c:v>
                </c:pt>
                <c:pt idx="2">
                  <c:v>0.7</c:v>
                </c:pt>
                <c:pt idx="3">
                  <c:v>0.78</c:v>
                </c:pt>
                <c:pt idx="4">
                  <c:v>0.84</c:v>
                </c:pt>
                <c:pt idx="5">
                  <c:v>0.87</c:v>
                </c:pt>
                <c:pt idx="6">
                  <c:v>0.89</c:v>
                </c:pt>
                <c:pt idx="7">
                  <c:v>0.91</c:v>
                </c:pt>
                <c:pt idx="8">
                  <c:v>0.92</c:v>
                </c:pt>
                <c:pt idx="9">
                  <c:v>0.93</c:v>
                </c:pt>
                <c:pt idx="10">
                  <c:v>0.96089999999999998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DE-41E1-9A79-28B9BBFD2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Loss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2.1</c:v>
                </c:pt>
                <c:pt idx="1">
                  <c:v>1.5</c:v>
                </c:pt>
                <c:pt idx="2">
                  <c:v>1.1000000000000001</c:v>
                </c:pt>
                <c:pt idx="3">
                  <c:v>0.8</c:v>
                </c:pt>
                <c:pt idx="4">
                  <c:v>0.6</c:v>
                </c:pt>
                <c:pt idx="5">
                  <c:v>0.4</c:v>
                </c:pt>
                <c:pt idx="6">
                  <c:v>0.3</c:v>
                </c:pt>
                <c:pt idx="7">
                  <c:v>0.22</c:v>
                </c:pt>
                <c:pt idx="8">
                  <c:v>0.17</c:v>
                </c:pt>
                <c:pt idx="9">
                  <c:v>0.14000000000000001</c:v>
                </c:pt>
                <c:pt idx="10">
                  <c:v>0.12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6DB-436A-A079-34CCD5F591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Loss</c:v>
                </c:pt>
              </c:strCache>
            </c:strRef>
          </c:tx>
          <c:spPr>
            <a:ln w="2540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2.2000000000000002</c:v>
                </c:pt>
                <c:pt idx="1">
                  <c:v>1.6</c:v>
                </c:pt>
                <c:pt idx="2">
                  <c:v>1.2</c:v>
                </c:pt>
                <c:pt idx="3">
                  <c:v>0.85</c:v>
                </c:pt>
                <c:pt idx="4">
                  <c:v>0.65</c:v>
                </c:pt>
                <c:pt idx="5">
                  <c:v>0.45</c:v>
                </c:pt>
                <c:pt idx="6">
                  <c:v>0.32</c:v>
                </c:pt>
                <c:pt idx="7">
                  <c:v>0.24</c:v>
                </c:pt>
                <c:pt idx="8">
                  <c:v>0.19</c:v>
                </c:pt>
                <c:pt idx="9">
                  <c:v>0.15</c:v>
                </c:pt>
                <c:pt idx="10">
                  <c:v>0.13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6DB-436A-A079-34CCD5F59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A7A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0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Alternaria</c:v>
                </c:pt>
                <c:pt idx="1">
                  <c:v>Botrytis</c:v>
                </c:pt>
                <c:pt idx="2">
                  <c:v>Bulb Blight</c:v>
                </c:pt>
                <c:pt idx="3">
                  <c:v>Caterpillar</c:v>
                </c:pt>
                <c:pt idx="4">
                  <c:v>Fusarium</c:v>
                </c:pt>
                <c:pt idx="5">
                  <c:v>Healthy</c:v>
                </c:pt>
                <c:pt idx="6">
                  <c:v>Iris Virus</c:v>
                </c:pt>
                <c:pt idx="7">
                  <c:v>Rust</c:v>
                </c:pt>
                <c:pt idx="8">
                  <c:v>Virosis</c:v>
                </c:pt>
                <c:pt idx="9">
                  <c:v>Xanthomonas</c:v>
                </c:pt>
                <c:pt idx="10">
                  <c:v>Stemphylium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0.92359999999999998</c:v>
                </c:pt>
                <c:pt idx="1">
                  <c:v>0.99170000000000003</c:v>
                </c:pt>
                <c:pt idx="2">
                  <c:v>1</c:v>
                </c:pt>
                <c:pt idx="3">
                  <c:v>0.97840000000000005</c:v>
                </c:pt>
                <c:pt idx="4">
                  <c:v>0.93679999999999997</c:v>
                </c:pt>
                <c:pt idx="5">
                  <c:v>0.94330000000000003</c:v>
                </c:pt>
                <c:pt idx="6">
                  <c:v>0.92830000000000001</c:v>
                </c:pt>
                <c:pt idx="7">
                  <c:v>0.99760000000000004</c:v>
                </c:pt>
                <c:pt idx="8">
                  <c:v>0.99829999999999997</c:v>
                </c:pt>
                <c:pt idx="9">
                  <c:v>1</c:v>
                </c:pt>
                <c:pt idx="10">
                  <c:v>0.9385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2B-4F6F-A603-2B2906C42A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84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914400"/>
            <a:ext cx="640080" cy="6400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474720"/>
            <a:ext cx="1371600" cy="1371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572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III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288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April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SPPU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182880" y="3291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Adsul’s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Technical Campus, Chas, </a:t>
            </a:r>
            <a:r>
              <a:rPr lang="en-U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Ahilyanager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108960" y="54864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Smart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Irrigation and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System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108960" y="2926080"/>
            <a:ext cx="566928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063240"/>
            <a:ext cx="1051560" cy="274320"/>
          </a:xfrm>
          <a:prstGeom prst="round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063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1104" y="3063240"/>
            <a:ext cx="1051560" cy="274320"/>
          </a:xfrm>
          <a:prstGeom prst="round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3063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13248" y="3063240"/>
            <a:ext cx="1051560" cy="274320"/>
          </a:xfrm>
          <a:prstGeom prst="round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063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65392" y="3063240"/>
            <a:ext cx="1051560" cy="274320"/>
          </a:xfrm>
          <a:prstGeom prst="round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63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17536" y="3063240"/>
            <a:ext cx="1051560" cy="274320"/>
          </a:xfrm>
          <a:prstGeom prst="roundRect">
            <a:avLst/>
          </a:prstGeom>
          <a:solidFill>
            <a:srgbClr val="4CAF5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3063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0" y="3520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462BF-1C4D-49B1-B5B7-A6EB1DC1AF3F}"/>
              </a:ext>
            </a:extLst>
          </p:cNvPr>
          <p:cNvSpPr txBox="1"/>
          <p:nvPr/>
        </p:nvSpPr>
        <p:spPr>
          <a:xfrm>
            <a:off x="3202460" y="4046361"/>
            <a:ext cx="38887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Atharv Taral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bg1"/>
                </a:solidFill>
              </a:rPr>
              <a:t>Shejal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Nangare</a:t>
            </a:r>
            <a:endParaRPr lang="en-IN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Gaurav </a:t>
            </a:r>
            <a:r>
              <a:rPr lang="en-IN" sz="1400" dirty="0" err="1">
                <a:solidFill>
                  <a:schemeClr val="bg1"/>
                </a:solidFill>
              </a:rPr>
              <a:t>Takale</a:t>
            </a:r>
            <a:endParaRPr lang="en-IN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Gayatri </a:t>
            </a:r>
            <a:r>
              <a:rPr lang="en-IN" sz="1400" dirty="0" err="1">
                <a:solidFill>
                  <a:schemeClr val="bg1"/>
                </a:solidFill>
              </a:rPr>
              <a:t>Thube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822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645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6888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9184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91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1480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8229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82296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822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822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&amp; Algorithm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6459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64592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45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1645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Module (OnionGuard)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46888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46888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Overview &amp; Sensors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2918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29184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291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54880" y="4114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4114800"/>
            <a:ext cx="457200" cy="6400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59" y="1188720"/>
            <a:ext cx="3944983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"Intelligent, automated farming powered by IoT, AI &amp; Renewable Energy"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2004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37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Savitribai Phule Pune University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 – 2026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82296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+ Renewable Energy integrated greenhouse automation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as central controller processing real-time sensor data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for plant leaf disease detection (96.09% accuracy)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 dashboard for remote monitoring &amp; control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(GPT-4o) for expert-level crop advisory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59436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868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KASR: Keyword-Aware Service Recommendation (IEEE)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207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scalable for real-time IoT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27632"/>
            <a:ext cx="59436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27632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6733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Irrigation using Soil Sensors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AI/disease detection component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32304"/>
            <a:ext cx="59436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32304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4780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Plant Disease Classification (ResNet-50)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8163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High compute; not suitable for edge devices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36976"/>
            <a:ext cx="59436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3697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2826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Greenhouse Automation Systems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6210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Manual monitoring; no cloud integration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41648"/>
            <a:ext cx="59436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4164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087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Agriculture Expert Systems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4256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Standalone — not integrated with hardware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irrigation wastes 40-60% water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disease detection leads to crop losses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access to real-time field data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manual labor &amp; operational costs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advisory system for small farmers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822960"/>
            <a:ext cx="4389120" cy="4023360"/>
          </a:xfrm>
          <a:prstGeom prst="rect">
            <a:avLst/>
          </a:prstGeom>
          <a:solidFill>
            <a:srgbClr val="E8F5E9"/>
          </a:solidFill>
          <a:ln w="1905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4173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irrigation using soil moisture &amp; sensor data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onion leaf diseases using CNN (96.09% accuracy)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IoT sensors with cloud (ThingsBoard)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Agentic AI expert advisory via GPT-4o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remote monitoring via web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Manual &amp; Semi-Automated Approaches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80160"/>
            <a:ext cx="4206240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Traditional Irrigation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6642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watering based on farmer experience. No sensor data, over/under irrigation common.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4206240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Lab-based Disease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sent to labs. Results take days, by then crop is already damaged.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4206240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Basic IoT Sensors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monitor humidity/temp. No decision-making, no disease detection, no AI.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4206240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Alert Systems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40156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threshold alarms. No recommendation engine or expert advisory.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754880"/>
            <a:ext cx="85953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All existing systems lack integration of AI, IoT, renewable energy &amp; expert advisory in a single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IoT + AI + Renewable Energy solution for precision agriculture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457200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temp, humidity,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pH, via Raspberry Pi GPIO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3154680" y="12344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234440"/>
            <a:ext cx="457200" cy="164592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2344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Disease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96.09% accuracy on 11 onion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classes, 100×100px input</a:t>
            </a:r>
            <a:endParaRPr lang="en-US" sz="1200" b="1" dirty="0"/>
          </a:p>
        </p:txBody>
      </p:sp>
      <p:sp>
        <p:nvSpPr>
          <p:cNvPr id="19" name="Shape 17"/>
          <p:cNvSpPr/>
          <p:nvPr/>
        </p:nvSpPr>
        <p:spPr>
          <a:xfrm>
            <a:off x="6080760" y="12344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234440"/>
            <a:ext cx="457200" cy="164592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2344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(GPT-4o)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treatment plans,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(Whisper+TTS), Tool use</a:t>
            </a:r>
            <a:endParaRPr lang="en-US" sz="1200" b="1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63240"/>
            <a:ext cx="457200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0632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real-time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remote control</a:t>
            </a:r>
            <a:endParaRPr lang="en-US" sz="1200" b="1" dirty="0"/>
          </a:p>
        </p:txBody>
      </p:sp>
      <p:sp>
        <p:nvSpPr>
          <p:cNvPr id="29" name="Shape 27"/>
          <p:cNvSpPr/>
          <p:nvPr/>
        </p:nvSpPr>
        <p:spPr>
          <a:xfrm>
            <a:off x="3154680" y="30632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3063240"/>
            <a:ext cx="457200" cy="1645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0632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0332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0332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pump, on thresholds</a:t>
            </a:r>
            <a:endParaRPr lang="en-US" sz="1200" b="1" dirty="0"/>
          </a:p>
        </p:txBody>
      </p:sp>
      <p:sp>
        <p:nvSpPr>
          <p:cNvPr id="36" name="Text 34"/>
          <p:cNvSpPr/>
          <p:nvPr/>
        </p:nvSpPr>
        <p:spPr>
          <a:xfrm>
            <a:off x="6080760" y="30632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36118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822960"/>
            <a:ext cx="8778240" cy="12801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960120"/>
            <a:ext cx="36576" cy="10058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05156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0515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02736" y="105156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10515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DHT11 (Temp+Humidity)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105156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0515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 Sensor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6208" y="105156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0515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52944" y="105156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10515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331720"/>
            <a:ext cx="8778240" cy="128016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423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2468880"/>
            <a:ext cx="36576" cy="10058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56032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5603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02736" y="256032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25603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CNN Model (TensorFlow/Keras)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256032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5603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256032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5603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GPIO Controller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52944" y="256032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52944" y="25603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3840480"/>
            <a:ext cx="8778240" cy="12801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931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03120" y="3977640"/>
            <a:ext cx="36576" cy="100584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06908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4069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02736" y="406908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02736" y="4069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(GPT-4o)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19472" y="406908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069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36208" y="406908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4069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Dashboard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52944" y="4069080"/>
            <a:ext cx="1234440" cy="8229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4069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 (Whisper)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Model – Architecture &amp;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Disease Detection | 11 Classes | 100×100px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960120" cy="1645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100×100×3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1234440"/>
            <a:ext cx="960120" cy="164592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53312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13432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2304" y="1234440"/>
            <a:ext cx="960120" cy="164592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32304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92424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11296" y="1234440"/>
            <a:ext cx="960120" cy="164592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71416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288" y="1234440"/>
            <a:ext cx="960120" cy="164592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50408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234440"/>
            <a:ext cx="960120" cy="1645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234440"/>
            <a:ext cx="960120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48272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+ Dropout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08392" y="1920240"/>
            <a:ext cx="118872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27264" y="1234440"/>
            <a:ext cx="960120" cy="1645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27264" y="1234440"/>
            <a:ext cx="960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Classes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Extraction (no manual feature engineering)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Hierarchy – understands pixel relationships in leaf images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Invariance – disease position independent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SGD (lr=0.01) | Activation: ReLU (prevents vanishing gradient)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– OnionGuard Expert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GPT-4o powered agricultural expert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88720"/>
            <a:ext cx="54864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Perception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5727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identifies disease from 11 classes with 96.09%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03120"/>
            <a:ext cx="548640" cy="77724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871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analyzes result → generates professional treatment plan with causes &amp; medicines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548640" cy="77724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Tool triggered to show real-world images of medicine bottles to farmer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31920"/>
            <a:ext cx="54864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319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3159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(STT) + TTS enables talking to farmer in their language (Marathi/Hindi/English)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85953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Kept separate from Pi due to resource optimization — GPT-4o requires high compute &amp; internet; Pi handles edge tasks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Overview &amp; Sensors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as the Central Edge 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188720"/>
          </a:xfrm>
          <a:prstGeom prst="rect">
            <a:avLst/>
          </a:prstGeom>
          <a:solidFill>
            <a:srgbClr val="0D4F1C"/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Raspberry Pi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 Controller)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188720"/>
            <a:ext cx="2103120" cy="822960"/>
          </a:xfrm>
          <a:prstGeom prst="round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" y="1188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Soil Moisture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2651760"/>
            <a:ext cx="2103120" cy="822960"/>
          </a:xfrm>
          <a:prstGeom prst="round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2651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DHT11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Temp+Humidity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651760"/>
            <a:ext cx="2103120" cy="82296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651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pH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0040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84163" y="1254034"/>
            <a:ext cx="2103120" cy="822960"/>
          </a:xfrm>
          <a:prstGeom prst="round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684163" y="1254034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Relay</a:t>
            </a:r>
          </a:p>
        </p:txBody>
      </p:sp>
      <p:sp>
        <p:nvSpPr>
          <p:cNvPr id="23" name="Shape 21"/>
          <p:cNvSpPr/>
          <p:nvPr/>
        </p:nvSpPr>
        <p:spPr>
          <a:xfrm>
            <a:off x="3383280" y="2743200"/>
            <a:ext cx="2103120" cy="822960"/>
          </a:xfrm>
          <a:prstGeom prst="round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07415" y="275103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00800" y="4114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 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– Local GUI &amp; Raspberry Pi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Raspberry Pi — edge processing, real-time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6276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soil moisture, temp, humidity, pH, continuously from sensors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40680" y="1280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6276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grayscale conversion + Otsu Thresholding for disease pattern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Detection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detection — UI stays responsive with progress bar while model infers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Recommendations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DISEASE_INFO local database provides treatment plans for all 11 onion diseases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Upload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0965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data pushed to ThingSpeak for cloud graph visualization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4068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40965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ON/OFF, triggered via GPIO thresholds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&amp;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sensor readings via GPIO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 &amp; clean raw data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vs threshold values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Trigger actuation (pump/fan/LED)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Capture leaf Image 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Preprocess → CNN inference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If disease: Alert + GPT-4o advisory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Upload all data to ThingsBoard cloud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822960"/>
            <a:ext cx="4389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984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298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for image classification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73936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73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7739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optimizer (lr=0.01)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9424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494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22494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function; solves vanishing gradient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24912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7249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724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dropout rate to prevent overfitting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for 11-class probability distribution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75888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for image binarization (preprocessing)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151376"/>
            <a:ext cx="822960" cy="3657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513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41513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downsampling to reduce spatial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828800" cy="777240"/>
          </a:xfrm>
          <a:prstGeom prst="round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828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828800"/>
            <a:ext cx="1828800" cy="777240"/>
          </a:xfrm>
          <a:prstGeom prst="round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828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828800" cy="777240"/>
          </a:xfrm>
          <a:prstGeom prst="round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05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(Disease)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28800"/>
            <a:ext cx="1828800" cy="77724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828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1828800" cy="77724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840480"/>
            <a:ext cx="1828800" cy="7772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840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(Advisory)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176272"/>
            <a:ext cx="27432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2176272"/>
            <a:ext cx="3657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353312"/>
            <a:ext cx="3657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9933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06240" y="199339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push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2743200"/>
            <a:ext cx="228600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788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Moisture: &lt;30% → Pump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&gt;35°C → Fan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&lt;200lux → LED 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914400"/>
            <a:ext cx="228600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960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100×100px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Disease Class + Confidence Score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89420" y="3924635"/>
            <a:ext cx="228600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96055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</a:t>
            </a:r>
            <a:r>
              <a:rPr lang="en-US" sz="1100" dirty="0" err="1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PlaVoice</a:t>
            </a: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Advisory (Whisper n + Medicine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TTS)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Results on Onion Disease Dataset (3825 test samples)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1920240" cy="128016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96.09%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1920240" cy="12801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95.82%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20240" cy="12801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188720"/>
            <a:ext cx="1920240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188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03136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651760"/>
            <a:ext cx="8778240" cy="32004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8778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017520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 Blight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3017520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017520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3017520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78040" y="3017520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3364992"/>
            <a:ext cx="8778240" cy="338328"/>
          </a:xfrm>
          <a:prstGeom prst="rect">
            <a:avLst/>
          </a:prstGeom>
          <a:solidFill>
            <a:srgbClr val="E8F5E9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364992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Botrytis Leaf Blight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65960" y="3364992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03320" y="3364992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3364992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78040" y="3364992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712464"/>
            <a:ext cx="8778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712464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Xanthomonas Blight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65960" y="3712464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03320" y="3712464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3712464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3712464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059936"/>
            <a:ext cx="8778240" cy="338328"/>
          </a:xfrm>
          <a:prstGeom prst="rect">
            <a:avLst/>
          </a:prstGeom>
          <a:solidFill>
            <a:srgbClr val="E8F5E9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059936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65960" y="4059936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03320" y="4059936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0680" y="4059936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78040" y="4059936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4407408"/>
            <a:ext cx="8778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407408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Alternaria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965960" y="4407408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703320" y="4407408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40680" y="4407408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0.9236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78040" y="4407408"/>
            <a:ext cx="1691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over 50 Epochs — Accuracy &amp; Loss convergence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1887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663440" y="11887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Class-wise Performance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across all 11 onion disease categories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114300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achieve F1-Score &gt; 0.92 — confirming model stability &amp;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2296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🧅  Onion &amp; Vegetable Farming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984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disease detection, irrigation, and expert advisory for onion and vegetable farmers across Maharashtra &amp; India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2296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  Smart Greenhouse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2984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greenhouse automation — ventilation, lighting, irrigation, and disease monitoring in a single integrated 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2296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Precision Agriculture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29844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farming decisions using real-time IoT data, reducing water wastage by 40-60% and manual intervention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3464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Remote Farm Monitoring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31012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monitor and control entire field remotely via mobile or web dashboard from anywhere, anytime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3464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Agricultural Research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31012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and CNN model can be extended to detect diseases in other crops — scalable research platform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834640"/>
            <a:ext cx="2743200" cy="41148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Rural Solar-Powered Farms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310128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IoT node is ideal for remote farms with unreliable electricity — sustainable low-cost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vs 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274320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822960"/>
            <a:ext cx="3291840" cy="41148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822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1325880"/>
            <a:ext cx="8778240" cy="438912"/>
          </a:xfrm>
          <a:prstGeom prst="rect">
            <a:avLst/>
          </a:prstGeom>
          <a:solidFill>
            <a:srgbClr val="0D4F1C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325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3258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13258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783080"/>
            <a:ext cx="8778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783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Control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Timer-based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23560" y="1783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Sensor-triggered Automation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2240280"/>
            <a:ext cx="8778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240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2240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Visual/Lab (days late)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23560" y="2240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96.09% accuracy in seconds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697480"/>
            <a:ext cx="8778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697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Advisory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2697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/ Expensive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26974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Agentic AI — free, instant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154680"/>
            <a:ext cx="8778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154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06040" y="31546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electricity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23560" y="3154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— sustainable &amp; low-cost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3611880"/>
            <a:ext cx="8778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611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06040" y="36118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23560" y="36118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 dashboard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" y="4069080"/>
            <a:ext cx="8778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0690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06040" y="4069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23560" y="4069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+ TTS (multilingual)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2880" y="4526280"/>
            <a:ext cx="8778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D5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5262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06040" y="4526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(manual labor)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23560" y="4526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(one-time IoT hardware)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Publications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029200"/>
            <a:ext cx="87782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&amp; Monitoring System  |  Project Review III  | 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Conferences / Journals for Publication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61872"/>
            <a:ext cx="365760" cy="594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12618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International Conference on Electrical, Electronics, Computer Science &amp; Mathematics (ICEECMPE) — Mumbai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47672"/>
            <a:ext cx="365760" cy="594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476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19476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Innovations &amp; Technological Developments in Computer, Electronics &amp; Mechanical Engg (ICITDCEME)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33472"/>
            <a:ext cx="365760" cy="594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334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26334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International Advance Computing Conference — Andhra Pradesh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192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19272"/>
            <a:ext cx="365760" cy="594360"/>
          </a:xfrm>
          <a:prstGeom prst="rect">
            <a:avLst/>
          </a:prstGeom>
          <a:solidFill>
            <a:srgbClr val="0D4F1C"/>
          </a:solidFill>
          <a:ln w="12700">
            <a:solidFill>
              <a:srgbClr val="0D4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192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3192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SP-International Conference on Recent Innovations in Science, Engineering &amp; Technology (ICRISET) — Goa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8595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14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TensorFlow Docs | Keras API | OpenAI API | ThingsBoard IoT | Raspberry Pi Foundation | OpenCV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4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7A34">
              <a:alpha val="30000"/>
            </a:srgbClr>
          </a:solidFill>
          <a:ln w="12700">
            <a:solidFill>
              <a:srgbClr val="1A7A3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integrated IoT + AI  for smart Farming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achieves 96.09% testing accuracy across 11 onion disease classes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(GPT-4o) provides expert-level crop advisory with voice interface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cloud dashboard enables remote monitoring &amp; automated actuation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— extendable to other crops and larger deployments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G.H. Raisoni College of Engineering &amp; Management, Chas, Ahmednagar  |  Department of Computer Engineering  |  SPPU  | 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4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A34"/>
          </a:solidFill>
          <a:ln w="12700">
            <a:solidFill>
              <a:srgbClr val="1A7A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F1C">
              <a:alpha val="70000"/>
            </a:srgbClr>
          </a:solidFill>
          <a:ln w="12700">
            <a:solidFill>
              <a:srgbClr val="0D4F1C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2286000"/>
            <a:ext cx="3657600" cy="3657600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606040"/>
            <a:ext cx="3657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Irrigation and Monitoring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III  ·  B.E. Computer Engineering  ·  SPPU  ·  16 April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                                          |  </a:t>
            </a:r>
            <a:r>
              <a:rPr lang="en-US" sz="1100" dirty="0" err="1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Adsul’s</a:t>
            </a:r>
            <a:r>
              <a:rPr lang="en-US" sz="11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Technical Campus Chas, </a:t>
            </a:r>
            <a:r>
              <a:rPr lang="en-US" sz="1100" dirty="0" err="1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Ahilyanagar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ready! 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1889</Words>
  <Application>Microsoft Office PowerPoint</Application>
  <PresentationFormat>On-screen Show (16:9)</PresentationFormat>
  <Paragraphs>423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Irrigation and Monitoring System</dc:title>
  <dc:subject>PptxGenJS Presentation</dc:subject>
  <dc:creator>PptxGenJS</dc:creator>
  <cp:lastModifiedBy>atharvtaral1232@gmail.com</cp:lastModifiedBy>
  <cp:revision>6</cp:revision>
  <dcterms:created xsi:type="dcterms:W3CDTF">2026-04-09T08:53:39Z</dcterms:created>
  <dcterms:modified xsi:type="dcterms:W3CDTF">2026-04-15T07:13:07Z</dcterms:modified>
</cp:coreProperties>
</file>